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dfe1d7cda3416c" /><Relationship Type="http://schemas.openxmlformats.org/officeDocument/2006/relationships/extended-properties" Target="/docProps/app.xml" Id="R11595ec04bd94472" /><Relationship Type="http://schemas.openxmlformats.org/officeDocument/2006/relationships/officeDocument" Target="/ppt/presentation.xml" Id="Rd718b17c175b4e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83401202334d60"/>
  </p:sldMasterIdLst>
  <p:notesMasterIdLst>
    <p:notesMasterId xmlns:r="http://schemas.openxmlformats.org/officeDocument/2006/relationships" r:id="R5518314905e64dc6"/>
  </p:notesMasterIdLst>
  <p:sldIdLst>
    <p:sldId xmlns:r="http://schemas.openxmlformats.org/officeDocument/2006/relationships" id="256" r:id="R2bfdfe1b24e04184"/>
    <p:sldId xmlns:r="http://schemas.openxmlformats.org/officeDocument/2006/relationships" id="257" r:id="Rae63f583b3b24a84"/>
    <p:sldId xmlns:r="http://schemas.openxmlformats.org/officeDocument/2006/relationships" id="258" r:id="R6ffa17e60d074bc9"/>
    <p:sldId xmlns:r="http://schemas.openxmlformats.org/officeDocument/2006/relationships" id="259" r:id="Rf2eb534231164714"/>
    <p:sldId xmlns:r="http://schemas.openxmlformats.org/officeDocument/2006/relationships" id="260" r:id="Rbd823c092bb3404e"/>
    <p:sldId xmlns:r="http://schemas.openxmlformats.org/officeDocument/2006/relationships" id="261" r:id="R71657c4d19d34b28"/>
    <p:sldId xmlns:r="http://schemas.openxmlformats.org/officeDocument/2006/relationships" id="262" r:id="Rc63301ba9f954745"/>
    <p:sldId xmlns:r="http://schemas.openxmlformats.org/officeDocument/2006/relationships" id="263" r:id="Rf9678fa2b77a420d"/>
    <p:sldId xmlns:r="http://schemas.openxmlformats.org/officeDocument/2006/relationships" id="264" r:id="R23a25594fb184c7e"/>
    <p:sldId xmlns:r="http://schemas.openxmlformats.org/officeDocument/2006/relationships" id="265" r:id="R38d099b3b0d94b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3401202334d60" /><Relationship Type="http://schemas.openxmlformats.org/officeDocument/2006/relationships/theme" Target="/ppt/theme/theme1.xml" Id="R1403c818c91745ec" /><Relationship Type="http://schemas.openxmlformats.org/officeDocument/2006/relationships/notesMaster" Target="/ppt/notesMasters/notesMaster1.xml" Id="R5518314905e64dc6" /><Relationship Type="http://schemas.openxmlformats.org/officeDocument/2006/relationships/presProps" Target="/ppt/presProps.xml" Id="Rb7214aa4db72409e" /><Relationship Type="http://schemas.openxmlformats.org/officeDocument/2006/relationships/viewProps" Target="/ppt/viewProps.xml" Id="R6a74ffdf226d4ddf" /><Relationship Type="http://schemas.openxmlformats.org/officeDocument/2006/relationships/tableStyles" Target="/ppt/tableStyles.xml" Id="R4fdea6ce4cf1457b" /><Relationship Type="http://schemas.openxmlformats.org/officeDocument/2006/relationships/slide" Target="/ppt/slides/slide1.xml" Id="R2bfdfe1b24e04184" /><Relationship Type="http://schemas.openxmlformats.org/officeDocument/2006/relationships/slide" Target="/ppt/slides/slide2.xml" Id="Rae63f583b3b24a84" /><Relationship Type="http://schemas.openxmlformats.org/officeDocument/2006/relationships/slide" Target="/ppt/slides/slide3.xml" Id="R6ffa17e60d074bc9" /><Relationship Type="http://schemas.openxmlformats.org/officeDocument/2006/relationships/slide" Target="/ppt/slides/slide4.xml" Id="Rf2eb534231164714" /><Relationship Type="http://schemas.openxmlformats.org/officeDocument/2006/relationships/slide" Target="/ppt/slides/slide5.xml" Id="Rbd823c092bb3404e" /><Relationship Type="http://schemas.openxmlformats.org/officeDocument/2006/relationships/slide" Target="/ppt/slides/slide6.xml" Id="R71657c4d19d34b28" /><Relationship Type="http://schemas.openxmlformats.org/officeDocument/2006/relationships/slide" Target="/ppt/slides/slide7.xml" Id="Rc63301ba9f954745" /><Relationship Type="http://schemas.openxmlformats.org/officeDocument/2006/relationships/slide" Target="/ppt/slides/slide8.xml" Id="Rf9678fa2b77a420d" /><Relationship Type="http://schemas.openxmlformats.org/officeDocument/2006/relationships/slide" Target="/ppt/slides/slide9.xml" Id="R23a25594fb184c7e" /><Relationship Type="http://schemas.openxmlformats.org/officeDocument/2006/relationships/slide" Target="/ppt/slides/slide10.xml" Id="R38d099b3b0d94b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343fd864304e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46cc2b9a9640fa" /><Relationship Type="http://schemas.openxmlformats.org/officeDocument/2006/relationships/notesMaster" Target="/ppt/notesMasters/notesMaster1.xml" Id="R43c0047df30e4c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843d008bc443b9" /><Relationship Type="http://schemas.openxmlformats.org/officeDocument/2006/relationships/notesMaster" Target="/ppt/notesMasters/notesMaster1.xml" Id="Ra73a1d1388654a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8dcf9e34424567" /><Relationship Type="http://schemas.openxmlformats.org/officeDocument/2006/relationships/notesMaster" Target="/ppt/notesMasters/notesMaster1.xml" Id="Rbad67bc8abb645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73db8b33264da6" /><Relationship Type="http://schemas.openxmlformats.org/officeDocument/2006/relationships/notesMaster" Target="/ppt/notesMasters/notesMaster1.xml" Id="Rb360d634fa7941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e9431da074d8a" /><Relationship Type="http://schemas.openxmlformats.org/officeDocument/2006/relationships/notesMaster" Target="/ppt/notesMasters/notesMaster1.xml" Id="Rcb952b66792842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2b8a0dc7054288" /><Relationship Type="http://schemas.openxmlformats.org/officeDocument/2006/relationships/notesMaster" Target="/ppt/notesMasters/notesMaster1.xml" Id="Re72c40b2008b48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2b98dc21f64cec" /><Relationship Type="http://schemas.openxmlformats.org/officeDocument/2006/relationships/notesMaster" Target="/ppt/notesMasters/notesMaster1.xml" Id="Rb6620e6a065440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d18739b33f40ab" /><Relationship Type="http://schemas.openxmlformats.org/officeDocument/2006/relationships/notesMaster" Target="/ppt/notesMasters/notesMaster1.xml" Id="R1b9bfdf7770649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3fc7ea1c8e4e89" /><Relationship Type="http://schemas.openxmlformats.org/officeDocument/2006/relationships/notesMaster" Target="/ppt/notesMasters/notesMaster1.xml" Id="R67ccc8514fe440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a2417428cc4a7c" /><Relationship Type="http://schemas.openxmlformats.org/officeDocument/2006/relationships/notesMaster" Target="/ppt/notesMasters/notesMaster1.xml" Id="R961f2155f2ef49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f6325f39941f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8492cf95b647a2" /><Relationship Type="http://schemas.openxmlformats.org/officeDocument/2006/relationships/slideLayout" Target="/ppt/slideLayouts/slideLayout2.xml" Id="Rf9c5bdddb5b24d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c5bdddb5b24d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34970a57ec4c62" /><Relationship Type="http://schemas.openxmlformats.org/officeDocument/2006/relationships/notesSlide" Target="/ppt/notesSlides/notesSlide1.xml" Id="Raf66b89924e84f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fc0a084c4046e7" /><Relationship Type="http://schemas.openxmlformats.org/officeDocument/2006/relationships/notesSlide" Target="/ppt/notesSlides/notesSlide2.xml" Id="R4d83dc1ddfaf4f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81ed6cb3542aa" /><Relationship Type="http://schemas.openxmlformats.org/officeDocument/2006/relationships/notesSlide" Target="/ppt/notesSlides/notesSlide3.xml" Id="R097f8a4491f74f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7085fb8ad44b80" /><Relationship Type="http://schemas.openxmlformats.org/officeDocument/2006/relationships/notesSlide" Target="/ppt/notesSlides/notesSlide4.xml" Id="Rd439cc9982554b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8a71a17b3245db" /><Relationship Type="http://schemas.openxmlformats.org/officeDocument/2006/relationships/notesSlide" Target="/ppt/notesSlides/notesSlide5.xml" Id="Rdcd7783edd7f4a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7d590002a34794" /><Relationship Type="http://schemas.openxmlformats.org/officeDocument/2006/relationships/notesSlide" Target="/ppt/notesSlides/notesSlide6.xml" Id="R5e5bf0c9322c4c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87e5d862cf4931" /><Relationship Type="http://schemas.openxmlformats.org/officeDocument/2006/relationships/notesSlide" Target="/ppt/notesSlides/notesSlide7.xml" Id="R9df7d87def5444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3d6929c7d94fdc" /><Relationship Type="http://schemas.openxmlformats.org/officeDocument/2006/relationships/notesSlide" Target="/ppt/notesSlides/notesSlide8.xml" Id="R0d13018f565443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553b320f064bbf" /><Relationship Type="http://schemas.openxmlformats.org/officeDocument/2006/relationships/notesSlide" Target="/ppt/notesSlides/notesSlide9.xml" Id="Rf96716959b0643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4e54d2d7804449" /><Relationship Type="http://schemas.openxmlformats.org/officeDocument/2006/relationships/notesSlide" Target="/ppt/notesSlides/notesSlide10.xml" Id="R216f5c9efbf64f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07FBF3-99B1-4FE2-927F-1A3E340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39B3B-5D34-4BC1-88E5-464FCB1C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35EDD-B936-4832-A1E6-68816842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Epileptic Seizure Recognition with Soft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BE37B-B4EA-4491-9E97-12166811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CSC425 Math for Data Science - Integrated Phase 1 and Phase 2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1E1E0-8A89-4F26-8B17-EC8A6946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429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This presentation summarizes model benchmarking from Phase 1 and the Genetic Algorithm feature-selection extension designed in Phase 2 for the same EEG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45358-D21A-428F-9402-BD622C19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EC6E9-D090-4594-8E88-F7DD5E1E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BD332-45FC-45A0-9EFB-C9DBBB04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A7EC0-A570-415A-930C-09655F5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11,500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99D37-BB8B-4D27-B496-7B5AE659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1CC59-E40B-4D9F-A710-EA548F44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8AA5D-FE6D-4322-9C19-B9DC9CC2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148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84842-CE6A-4387-9BB9-9C70FFA5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005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178 EEG 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F0467-511E-4A28-AFB9-4D83F85C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179EC-5CEF-4B1D-8B39-C67C092F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24321-5DB3-4C97-B0DA-81BBB819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Best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ABCFB-9B5C-48C6-A5A1-2C12AE6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005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97.52%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6E0E3-550E-4513-9757-1B6E00E0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Prepared from: Phase 1 Colab.ipynb and phase 2 colab.ipynb</a:t>
            </a:r>
          </a:p>
        </p:txBody>
      </p:sp>
    </p:spTree>
    <p:extLst>
      <p:ext uri="{BB962C8B-B14F-4D97-AF65-F5344CB8AC3E}">
        <p14:creationId xmlns:p14="http://schemas.microsoft.com/office/powerpoint/2010/main" val="10669826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F4769-7204-4C69-AABA-ACAA8B6D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9107E-B830-43F2-B5B0-0BE01741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2F200-7E26-45CB-A835-67E2443D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Research Problem and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AC1F7-867B-4FEC-8582-8BE0BA3F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34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89E95-C190-465C-891E-C3FC672A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F52D3-294A-43FE-905F-9B8D5853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991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Accurate seizure detection from EEG segments is challenging due to class imbalance, feature redundancy, and model sensitivity to noisy dimensions.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4BAC2-5336-4E66-A196-7B0BDCE4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5334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B717D-9463-4AD1-B62F-0116357E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Study Objectives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B5D12-86A0-4579-8B93-7A85131E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4991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Benchmark required classifiers under one consistent pipeline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Evaluate fit behavior via train-test and CV views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Extend the study with GA-based feature selection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Compare GA against SelectKBest, RFE, and Embedded RF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764F4-4555-4DA6-A36A-30BD0BFA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- Primary target: binary seizure vs non-seizure recognition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D852A-2204-45EE-A93F-AD235AD1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- Secondary target: reproducible rubric-aligned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C7800-D91C-4AD7-99D7-B6938E99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Dataset family: UCI Epileptic Seizure Recognition</a:t>
            </a:r>
          </a:p>
        </p:txBody>
      </p:sp>
    </p:spTree>
    <p:extLst>
      <p:ext uri="{BB962C8B-B14F-4D97-AF65-F5344CB8AC3E}">
        <p14:creationId xmlns:p14="http://schemas.microsoft.com/office/powerpoint/2010/main" val="17310961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ECB1C-F276-4C94-A52A-8C38FB5C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18E73-8B55-4689-A86F-EA650A37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E8575-EB25-4CEF-A857-4C0408BA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Dataset and Preprocessing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98E1D-2F39-445A-B1F0-A28E3229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139D5-8BC0-4458-9441-0211185A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F47DF-6420-4955-8D6D-7DC086C5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FC0B9-7484-42E9-B178-ED670FDF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11,500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13E7D-8369-4E6E-8EDC-267E65CB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ACD42-A62D-4394-8F7B-A055A9D7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A4E1E-E11D-4176-B491-6F788FA4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145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Raw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25E20-1E06-4EC0-8EE5-A757A31A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X1..X178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05011-64EB-4C9D-A95C-63514AD4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AC8FC-1346-4C09-8E70-FA85417E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5459E-B478-4C3B-8393-7C1BBDBE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Train/Test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42860-7DC8-4779-B583-5465784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80/20 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5674D-E22D-418A-81E0-4DB66DFC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002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19F61-367B-4774-BBF3-CB815152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B3559-1ADD-4D4E-876D-0AB757D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145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C96CF-8511-415E-B3CE-EDCFA698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5-fold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93F2A-F525-4AC3-8EB6-D62D7D8B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9BCFE-CB71-4F50-B85C-B0D8305E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Phase 1 Data 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2B2EA-6765-4372-B850-40413B10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9911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Load CSV with fallback download support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Clean unnamed columns and coerce numeric types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Create binary target from multiclass label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Run descriptive stats and statistical tests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Standardize features before model 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8B14D-7424-4ABA-A066-9FF959A5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B5E68-1392-414D-80EE-EA85B93A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Feature Reduction and Selection Used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FCAE5-E37B-4730-9802-5F6FD1A9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49911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PCA and Kernel PCA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LDA projection and SVD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SelectKBest (ANOVA), RFE, Embedded RF importance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Outputs reused in Phase 2 comparison design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1866C-23F9-4C7D-95CF-B67A4E0C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Notebook evidence: preprocessing, feature reduction, and rubric alignment sections completed</a:t>
            </a:r>
          </a:p>
        </p:txBody>
      </p:sp>
    </p:spTree>
    <p:extLst>
      <p:ext uri="{BB962C8B-B14F-4D97-AF65-F5344CB8AC3E}">
        <p14:creationId xmlns:p14="http://schemas.microsoft.com/office/powerpoint/2010/main" val="19682048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8D6C1D-1304-461C-A7EF-AB7F607C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9F457-94DB-434A-A444-5FD9009F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14683-F08A-487E-A8D2-2C3BB660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Phase 1 Model Benchmarking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F04F4-E77A-4D2E-98D0-893D2CAB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1023C-44E9-402B-9054-66A8CF73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1) Data Prep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F8724-2009-4475-A48F-2A1C78C8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Cleaning, scaling, and 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ECDCE-FDFF-4357-B383-A9293C4B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14D66-A0CA-4A31-B36F-DF783604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2)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56500-06FE-407C-A33E-2960D3E4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955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PCA / RFE / Embedded / KBest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AC320-C146-4155-BDBE-130106EA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002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29832-C372-4A81-BD41-CE52F7FD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3)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75AE5-5373-474C-A10E-3715EDEE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10 classifiers and CV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6C114-4AF2-48CD-97C6-F47B50DE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9171F-6A36-4DAB-BB1F-9B1CA965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4) Testing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373EB-7B1A-41C0-8AA0-F52FA36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Accuracy, F1, ROC AUC, confusion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697CD-1B21-4BDD-B4CC-1236AD70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295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1B54D-CD92-4E0C-BF49-638A6A9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336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5)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9A380-F3CA-400E-BE7B-4A1A8515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95550"/>
            <a:ext cx="95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Balanced/over/underfit commentary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A6EDA-1FA1-4759-BB3F-4262AAC9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193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8A865-8985-4F52-81FD-2182AB54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AC466-19D4-43D7-AEF6-DB993C0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193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25AAE-AE4F-4027-B735-5EF3E1E6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93FE80-4E29-417B-AA58-6B2AA95D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7B6EB-209D-4A83-9FC6-4365E57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062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Models Included in Final Comparison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A8E16-6096-4025-A24B-1DBC0456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06299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Naive Bayesian, Bayesian Belief Network, Decision Tree, LDA, Feed Forward NN, Feedback NN, KNN (Euclidean/Manhattan), SVM (RBF), and Logistic Regression.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All models were reported with test accuracy, F1 score, ROC AUC, and fit comment.</a:t>
            </a:r>
          </a:p>
        </p:txBody>
      </p:sp>
    </p:spTree>
    <p:extLst>
      <p:ext uri="{BB962C8B-B14F-4D97-AF65-F5344CB8AC3E}">
        <p14:creationId xmlns:p14="http://schemas.microsoft.com/office/powerpoint/2010/main" val="5742127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74D196-08A0-4B45-9F63-B04C7BC7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DBC2E-32EC-4428-97E5-8F693FD2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1C04D-F246-4D43-B482-EAD9CC67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Phase 1 Final Model Comparison (Test Accuracy)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E7107-ED8B-491C-AF62-07C5A35D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F77D1-5D54-414F-834C-F9269896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716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Accuracy 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A8CB2-28EE-4358-85B2-E8507A66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SVM (RBF)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083FC-C6A7-4053-8E3C-E6D5F4D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47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4FB66-6442-4A59-9BE9-BC40040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47850"/>
            <a:ext cx="705947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17F87-4E51-497F-B891-D8D49E07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907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97.52%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538AD-05DF-4D07-B925-E4F5DAD3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Feed Forward 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567E5-E373-4938-9629-7E37B15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764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571A4-C97B-423F-B2FD-380FD409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76475"/>
            <a:ext cx="700952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A0B8F-4913-4C9E-99DD-4203226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193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96.83%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8A12B-64C9-4AF3-9DF5-EAA04274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Naive Bayesian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9B1BD-0514-4155-A32B-71A7806C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9B2B1-F43F-4705-BFA2-4FA34BEE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692120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2AE4E-682C-4EA8-B67C-03D2C09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47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95.61%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0AB4E-4AB4-4E29-A580-07A4B784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Feedback NN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8FCE4-648C-4627-8E40-773A377F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337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28EA9-7C14-4AB4-8082-E4E49895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33725"/>
            <a:ext cx="687994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C8963-6A96-4903-B1AD-84E96BC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765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95.04%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E69C7-008A-4015-A903-0104F81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 Tree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C3664-8468-4CF2-BDBA-7CEB5B04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3B8CF-11BE-4D3E-A982-AECD6CBD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6811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63E00-13A2-40E1-9D4F-AF7523B3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05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94.09%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B3174-7E6C-4136-BE49-A319F900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KNN Euclidean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BB260-F535-4B6A-AD13-088EB215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909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8A5658-BECB-4DE2-9E2C-A109038B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90975"/>
            <a:ext cx="674168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C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B5ED1C-6136-4611-AE3B-6E06BC54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338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93.13%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0F2FB-34DD-4003-97DB-DDCCDB60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KNN Manhattan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9B82D8-7053-4ED9-BC9E-133D15A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196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C3E1F7-4FD3-49C2-A24C-88C5AC00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19600"/>
            <a:ext cx="67040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C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C182CE-F78F-469B-8E0D-3A605B84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62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92.61%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F79527-21F5-4523-83CF-42DE8756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Bayesian Belief Net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6E4AB6-3BC4-442B-875F-4065B76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482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52FBBE-2606-433D-BE90-8A46EB01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48225"/>
            <a:ext cx="611550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97898E-81EF-4CE4-85B6-C9BD4D78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910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84.48%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4CA077-398A-4D90-9E7D-43D868AA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CA4DD7-F840-41C8-98DC-315FECFE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744DD8-9554-4DBD-AC34-0A4094C2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591064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07C979-9660-4B1B-BA02-FD66AEB5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197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81.65%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31B289-8B42-4A79-BFF0-15474A9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LDA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3251BC-9BE7-4BCE-9E7A-169E4CA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0547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C2A839-766F-48D8-9476-D64BD260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05475"/>
            <a:ext cx="5879516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0D3F7C-65F8-4918-89AE-1ADE8A95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483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81.22%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5EF1FC-E722-4919-A0BA-485401F8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Top performer: SVM (RBF) with 0.9752 test accuracy and 0.9972 ROC AUC.</a:t>
            </a:r>
          </a:p>
        </p:txBody>
      </p:sp>
    </p:spTree>
    <p:extLst>
      <p:ext uri="{BB962C8B-B14F-4D97-AF65-F5344CB8AC3E}">
        <p14:creationId xmlns:p14="http://schemas.microsoft.com/office/powerpoint/2010/main" val="7616120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DA293-F140-4584-B680-FE4F6362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7D891-7567-4459-BCA3-EF8550CB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B50C4-6C4B-452D-A699-E9B56E9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Performance Interpretation and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7CCD0-3BFB-4EC8-9EC3-187A2C8A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B7443-C9E3-4573-9363-BD3B5F2E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21678-1883-41E7-8121-81CA0385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Best Classifier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E90CD-9B43-4254-A025-BA389B36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SVM (RBF)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070DD-46C5-4EFA-A7D7-54F40CA7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383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6A594-ABB3-4612-B08B-8F735F6F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38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403A4-7628-457D-BE5D-B68B8130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Best ROC 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2C4F6-B214-4A46-902A-77EB4212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0.9972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801FD-88F5-49EF-8192-645F2994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383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39E95-AE96-423A-AA38-0680A45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38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7CC67-E155-483A-BB4B-D09BEC93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Best F1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F5C32-C18D-4F38-8436-19A22D18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0.9363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A5FC1-CA44-4974-BCAB-B0239578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334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22D31-E41A-45D7-A7A7-E9F86D23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Interpretation Highlights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44118-AD31-42B1-AC41-ED68388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9911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Most models were tagged as balanced fit in the notebook output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Kernelized SVM and neural networks captured non-linear EEG patterns well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Linear models (LDA, Logistic Regression) showed clear underperformance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KNN variants remained competitive but below SVM and NN levels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23B45-607C-4F69-83DD-8495AB08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5334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6DFF1-C4B1-452F-BE0A-B016CCC9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Regression Side Task (Phase 1 Rubric)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13D68-582B-4D80-B20F-14B21175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49911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Linear Regression metrics were reported for completeness: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MAE: 0.31095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RMSE: 0.41469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R2: -0.07481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Willmott d: 0.27945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NSE: -0.07481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Legates-McCabe: 0.02828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These values indicate weak suitability of linear regression for this target setup.</a:t>
            </a:r>
          </a:p>
        </p:txBody>
      </p:sp>
    </p:spTree>
    <p:extLst>
      <p:ext uri="{BB962C8B-B14F-4D97-AF65-F5344CB8AC3E}">
        <p14:creationId xmlns:p14="http://schemas.microsoft.com/office/powerpoint/2010/main" val="15989323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15FE7-6A7A-4D90-BDFE-CD55798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0540B-0753-48AA-A7A9-25698F90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021D7-1E5C-4103-9289-94C5C7D2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Phase 2 Design: Genetic Algorithm Feature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028CA-6BA5-4FFA-A117-6FEB4921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962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A94A4-D311-42A0-80D7-DAF0DE94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BF27C-EADF-4117-9A22-A94C8D0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CB3FA-98B2-4C1F-84B4-438EE5FF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8E9CC-3C85-40B1-9C85-75311E2D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19250"/>
            <a:ext cx="1962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114F7-5526-4B43-8BA3-D4644B1C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192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99C99-38A2-4AA7-BBF7-F3569BBF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335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Generations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AABF8-E5E6-4B06-9C6E-2BEA79E9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1930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98EAF-77DC-4E01-B6EE-E219E823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19250"/>
            <a:ext cx="1962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2F2CD-0A91-48E6-A799-9D4AE2E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192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D6136-9F2B-48F1-9297-F6E0C0AA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335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Crossover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39B90-92C9-48B4-B1ED-452014F7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1930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0.80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5AE6B-B761-47C7-9B3D-708AD182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1962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E20BA-508A-4557-9990-D0AEA65B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1C943-5D17-44DD-BA3B-0DA6A454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335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Mutation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1CD0F-048B-44D4-AD3B-C9421E8E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1930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0.01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13A4C-F283-42F4-884A-5438647D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2514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4B8F1-95F0-4529-8694-EFC71868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13934-226B-46CE-A336-1E28C1D8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335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Fitness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DBB02-B873-4017-9023-4B622DBC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CV Acc - penalty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0BA7B-1691-4EA3-B6AC-9768E9BE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5D50A-B8AE-4C19-8163-190EFF7F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GA Representation and Operators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CDFB1-FB3D-4698-AC4E-332F718C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9911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Binary chromosome (1 = feature selected)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Tournament selection (k=3)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Single-point crossover with elitism (top 2)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Bit-flip mutation with minimum selected-feature repair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Oracle model for fitness: Decision Tree entropy, depth=8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2916A-3814-470D-BBB4-E6F6F7D9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B81C1-F386-431D-B40C-980D248E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Planned Baseline Comparison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05940-04F1-4E69-8619-83D43F6B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90900"/>
            <a:ext cx="49911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RFE with Logistic Regression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SelectKBest (ANOVA F-score)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Embedded Random Forest importances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All-features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Final evaluation classifiers: SVM (RBF) and Decision Tree across each feature subset.</a:t>
            </a:r>
          </a:p>
        </p:txBody>
      </p:sp>
    </p:spTree>
    <p:extLst>
      <p:ext uri="{BB962C8B-B14F-4D97-AF65-F5344CB8AC3E}">
        <p14:creationId xmlns:p14="http://schemas.microsoft.com/office/powerpoint/2010/main" val="676052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3DF7E1-E58E-4AE2-A552-244B6982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7AB1D-3452-4AF8-8505-CFCE6F3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C9CEE-2D47-4B93-AE59-99391959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Phase 2 Execution Status and Reporting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4C03B-E58F-47C0-92EC-8AD013DD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4AFE6-D962-4A2A-B176-35D851CE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059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A3E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00"/>
                </a:solidFill>
                <a:latin typeface="Aptos"/>
                <a:ea typeface="Aptos"/>
                <a:cs typeface="Aptos"/>
              </a:rPr>
              <a:t>Notebook status at documentation time: code is complete, but no saved execution outputs are present in phase 2 colab.ipynb.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EC53B-3095-4289-91F9-64E22056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34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6691E-5E8A-474A-A9BC-2368DE1D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Will Be Produced After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A1125-BBC6-4AD2-8680-9E3002F4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91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GA fitness vs generation curves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Number of selected features over generations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Test Accuracy and F1 bars by method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Jaccard overlap heatmap among feature subsets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ROC curves for SVM under all feature-selection methods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Final GA vs RFE winner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FEE71-22E2-488D-90F7-A2BA567C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334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634A6-5BF8-47D1-BB6B-E8A7D455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Reproducibility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31AF8-7626-44E7-A599-777FF8FD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4991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Phase 2 reuses Phase 1 preprocessing utilities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Fixed random state: 42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CV folds: 5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Metrics: Accuracy, Precision, Recall, F1, ROC AUC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Run time is expected to be several minutes due to repeated CV evaluations in GA fitness loop</a:t>
            </a:r>
          </a:p>
        </p:txBody>
      </p:sp>
    </p:spTree>
    <p:extLst>
      <p:ext uri="{BB962C8B-B14F-4D97-AF65-F5344CB8AC3E}">
        <p14:creationId xmlns:p14="http://schemas.microsoft.com/office/powerpoint/2010/main" val="4785163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038E6D-E89E-4129-88C8-41096407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38407-7306-40E7-990E-0CD4BE20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04890-B0B9-49CA-B557-768DBBB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Documentation and Research Artifacts Delivered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14DB8-8A91-4D74-B59D-CEB9EBA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3340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2596A-EBE8-4894-89BD-7925CDC5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Full Documentation (Created)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F3105-C0E2-4606-9AA5-678C522F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991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Problem framing and dataset context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End-to-end Phase 1 methodology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Feature engineering and selection strategy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Full model benchmark interpretation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Reproducibility and notebook execution guidance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Risks, limitations, and validation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3DC36-0B44-4652-8315-A7D0BBC8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53340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A6BB5-A364-433E-B10C-249DF925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Research Study (Created)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19CF7-5B7F-4682-A94D-124D267D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4991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Structured as abstract, introduction, methods, results, discussion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Contains Phase 1 quantitative results from notebook outputs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Includes a complete Phase 2 protocol and analysis plan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Marks missing Phase 2 numeric results transparently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- Ready for extension once Phase 2 notebook outputs are generated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D55DA-630E-407D-A2C9-392ADCF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Artifacts are aligned to your two source notebooks and can be submitted as project documentation drafts.</a:t>
            </a:r>
          </a:p>
        </p:txBody>
      </p:sp>
    </p:spTree>
    <p:extLst>
      <p:ext uri="{BB962C8B-B14F-4D97-AF65-F5344CB8AC3E}">
        <p14:creationId xmlns:p14="http://schemas.microsoft.com/office/powerpoint/2010/main" val="2713249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0540CE-0FD8-4D53-AD71-1BF3EB82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56404-373D-4143-8D3E-6C93F0F4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9398A-0375-4B1E-BA4B-02D132AD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Conclusions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AE3C7-D65B-4EE4-8778-88B366FE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E34D6-3385-4FD2-8FB9-213467B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307BF-BED5-4BC1-BFDB-AB7592A1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Key 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8E596-C39D-48C3-B13C-67D5233F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320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SVM (RBF) leads 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2C0BE-5615-46BB-9F5A-7BF47D15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192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D40F1-A8E4-4E57-B1C0-FB4D327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F0AEF-3D84-4F2B-BFDA-A18D0702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3355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Primary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711EA-116D-4F86-9D38-88F82874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320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Phase 2 outputs not saved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1A26B-62E5-417C-854F-6112F037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3733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F95AA-0ECE-4DC2-9AA6-6DF0B630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34B98-666F-4FF9-8FE5-44A6B917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335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Immediate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7DB77-CE64-4A9C-AD31-275796AC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19300"/>
            <a:ext cx="350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Run GA notebook end-to-end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53ED8-56C9-4C40-B193-4F47CE4F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5334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33A45-C79B-4EA6-A695-F9C5229B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Scientific 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6EE8F-E99F-4913-A2BE-35F99D33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9911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integrated workflow shows that strong non-linear classifiers can deliver high seizure-recognition performance on this dataset, while linear baselines struggle.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Feature-selection via GA is a promising next step to test whether similar or better performance can be maintained with a reduced feature subset.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14A69-817A-4E4E-ACBB-DBDD6B2B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5334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09491-E4E3-4883-AC15-AB16BB5E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Action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CBCAE-5F68-4B3C-B4DC-B9179634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9911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1) Execute phase 2 colab.ipynb to capture final GA metrics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2) Update the research study Results section with GA/RFE comparative table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3) Add final charts into the presentation appendix</a:t>
            </a:r>
          </a:p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4) Re-export final submission deck with completed Phase 2 evidence</a:t>
            </a:r>
          </a:p>
        </p:txBody>
      </p:sp>
    </p:spTree>
    <p:extLst>
      <p:ext uri="{BB962C8B-B14F-4D97-AF65-F5344CB8AC3E}">
        <p14:creationId xmlns:p14="http://schemas.microsoft.com/office/powerpoint/2010/main" val="1917511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2026-05-22T16:46:52.6670000Z</dcterms:created>
  <dcterms:modified xsi:type="dcterms:W3CDTF">2026-05-22T16:46:52.6670000Z</dcterms:modified>
</coreProperties>
</file>